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Меня зовут Бакланова Елизавета, класс 11Э7, Лицей ВШЭ. Представляю проект Entropiq: веб-сервис учёта личных финансов, который показывает не только номинальный баланс, но и его реальную покупательную способность. Продукт развёрнут, его можно открыть по адресу entropiq.ru.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Люди ведут учёт доходов и расходов, но считают в номинальных рублях. Инфляция 2025 года на лендинге указана как ориентир 9,8% (копия лендинга, не свежий прогноз Росстата). С 500 000 ₽ это порядка 49 000 ₽ потери покупательной способности за год, если держать деньги без доходности. Конкуренты (Дзен-Мани, Wallet, CoinKeeper, Monefy) инфляцию при планировании целей не считают. Источник постановки: бизнес-план и docs/research.md.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группы из бизнес-плана. Первые копят на жильё, машину, свадьбу и не понимают, хватит ли дохода. Вторые копят на образование детей и крупные покупки. Обеим нужен не ещё один список трат, а ответ: сколько откладывать, чтобы цель не обесценилась.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Entropiq считает операции в копейках, показывает баланс за месяц и рядом реальный баланс с поправкой на ИПЦ. У цели два прогресса: номинальный и с учётом инфляции. Три сценария (оптимистичный, базовый, пессимистичный) и слайдер дополнительного взноса. Советы строятся правилами по данным пользователя, текст генерирует GigaChat. Модель не имеет права выдумывать цифры и называть конкретные банковские продукты.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Сравнение из бизнес-плана. УТП не «ещё один трекер», а инфляция в целях и персональные советы. Freemium: бесплатно 50 операций в месяц и 1 цель, Premium 99 ₽ в месяц или 590 ₽ в год. Это цены в продукте и в финансовой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 входит по телефону. Дальше дашборд как центр: деньги, инфляция, цели, совет. Аналитика: расходы по категориям, номинальный против реального баланса, персональная инфляция. Это карта экранов из UX-спецификации, сейчас всё это в коде и на проде.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Коротко, 40 секунд, не читать весь список. Стек нужен не экономистам, а если спросят «это конструктор или свой код». Один человек, стандартный Laravel. Деньги только целые копейки. CI: Pint, Larastan, 365 тестов Pest. Дальше живое демо. Цифры на экране читаю с экрана.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Переключаюсь на браузер, аккаунт Алексея уже открыт. Цифры читаю с экрана, не со слайда. После демо возвращаюсь к слайду 9.
Подробный скрипт: docs/defense/demo-script.md.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января исследование и ТЗ, с марта разработка. К апрелю был MVP (учёт, цели, инфляция, аналитика, каркас AI, подписки). К сентябрю добавлены профиль, лендинг, онбординг, демо-данные, деплой, SMS Aero и GigaChat. На entropiq.ru сейчас именно этот демо-аккаунт: то, что только что показали, не локальная копия.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прогноз из docs/financial-model.md, не отчёт о выручке. Платящих клиентов нет: ЮKassa не подключена, ИП не зарегистрировано. Слайд отвечает на вопрос «как проект зарабатывает», а не «сколько уже заработали». Честная воронка запуска начнётся после юрлица и платёжного агрегатора.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учебной защиты важнее работающий сервис и прозрачность ограничений. Для рынка узкое место не код, а юрлицо, эквайринг и одобрение SMS. Внутренний проход (ENQ-112, ENQ-113) записан в протоколе. Альфа на 5–10 внешних людях в смысле бизнес-плана ещё не проведена.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после защиты: проверить продукт на живых людях, затем платежи. Семейные аккаунты и мобильное приложение в UX отнесены к этапу после защиты, в MVP их нет сознательно.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2011680"/>
            <a:ext cx="5486400" cy="5486400"/>
          </a:xfrm>
          <a:prstGeom prst="ellipse">
            <a:avLst/>
          </a:prstGeom>
          <a:solidFill>
            <a:srgbClr val="4F46E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2743200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60120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312E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Защита индивидуального проекта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spc="-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6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Персональный финансовый помощник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 учётом инфляции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86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Бакланова Елизавета Романовна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Лицей НИУ ВШЭ, класс 11Э7  ·  22.09.2026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2" y="418795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296912" y="4142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entropiq.ru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Деньги лежат, а покупают меньше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783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Накопили 500 000 ₽.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Через год на эти деньги меньше товаров.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651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Приложения учёта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показывают «мёртвые» цифры.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«накопить на отпуск»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инфляции выглядит достижимой, с инфляцией нет.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49240" y="1783080"/>
            <a:ext cx="324612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623560" y="2039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Ваш баланс через год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23560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Номинальный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441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500 000 ₽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8620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862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451 000 ₽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23560" y="3355848"/>
            <a:ext cx="2697480" cy="0"/>
          </a:xfrm>
          <a:prstGeom prst="line">
            <a:avLst/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3538728"/>
            <a:ext cx="2697480" cy="603504"/>
          </a:xfrm>
          <a:prstGeom prst="roundRect">
            <a:avLst>
              <a:gd name="adj" fmla="val 21212"/>
            </a:avLst>
          </a:prstGeom>
          <a:solidFill>
            <a:srgbClr val="FEF2F2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3685032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217920" y="3611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−49 000 ₽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инфляции 9,8% за год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Аудитория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Кому это нужно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840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116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EEF2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48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Молодые профессионалы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25–35 лет  ·  доход 80–150 тыс. ₽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737360"/>
            <a:ext cx="38404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2011680"/>
            <a:ext cx="548640" cy="548640"/>
          </a:xfrm>
          <a:prstGeom prst="roundRect">
            <a:avLst>
              <a:gd name="adj" fmla="val 28000"/>
            </a:avLst>
          </a:prstGeom>
          <a:solidFill>
            <a:srgbClr val="F5F3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488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937760" y="26700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-3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Семьи с детьми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999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Семейный бюджет  ·  доход 120–250 тыс. ₽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611880"/>
            <a:ext cx="8046720" cy="868680"/>
          </a:xfrm>
          <a:prstGeom prst="roundRect">
            <a:avLst>
              <a:gd name="adj" fmla="val 14737"/>
            </a:avLst>
          </a:prstGeom>
          <a:solidFill>
            <a:srgbClr val="FFFBEB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3776472"/>
            <a:ext cx="530352" cy="530352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3909060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73075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Общая боль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Крупные цели при растущих ценах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делает Entropiq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4993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83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973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3134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Учёт доходов и расходов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Операции в копейках, баланс за месяц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22320" y="1600200"/>
            <a:ext cx="24993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0920" y="1783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B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220" y="189738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0920" y="23134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Реальный баланс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Номинальный и с поправкой на ИПЦ Росстата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96000" y="1600200"/>
            <a:ext cx="249936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24600" y="178308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18973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24600" y="2313432"/>
            <a:ext cx="213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Цели с инфляцией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сценария и слайдер «Что если»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136392"/>
            <a:ext cx="3886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31927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5F3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43357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38496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Персональная инфляция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 структуре ваших трат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709160" y="3136392"/>
            <a:ext cx="38862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937760" y="3319272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343357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4937760" y="384962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AI-советы по фактам пользователя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 генерирует GigaChat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Рынок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Конкуренты и цена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1645920"/>
                <a:gridCol w="155448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Инфляция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Цели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6B728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Цена / год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Дзен-Мани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шаблоны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899 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Wallet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1 190 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CoinKeeper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правила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1 690 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Monefy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CA3A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нет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B556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749 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Entropiq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персональные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да, с ИПЦ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4338C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590 ₽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Карта экранов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устроен продукт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44144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SMS-вход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 пароля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32" y="2313432"/>
            <a:ext cx="219456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1691640"/>
            <a:ext cx="27432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88920" y="1920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EF2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20345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88920" y="2441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Дашборд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баланс, инфляция, совет дня, лента целей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231343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577840" y="1691640"/>
            <a:ext cx="27432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806440" y="192024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740" y="203454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806440" y="244144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Операции, цели, аналитика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вкладки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3429000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21" name="Shape 14"/>
          <p:cNvSpPr/>
          <p:nvPr/>
        </p:nvSpPr>
        <p:spPr>
          <a:xfrm>
            <a:off x="777240" y="36576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5F3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" y="3783330"/>
            <a:ext cx="251460" cy="2514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463040" y="36118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Онбординг, профиль, подписка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Вход в продукт и управление аккаунтом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4709160" y="3429000"/>
            <a:ext cx="3886200" cy="960120"/>
          </a:xfrm>
          <a:prstGeom prst="roundRect">
            <a:avLst>
              <a:gd name="adj" fmla="val 13333"/>
            </a:avLst>
          </a:prstGeom>
          <a:solidFill>
            <a:srgbClr val="F9FAFB"/>
          </a:solidFill>
          <a:ln/>
        </p:spPr>
      </p:sp>
      <p:sp>
        <p:nvSpPr>
          <p:cNvPr id="25" name="Shape 17"/>
          <p:cNvSpPr/>
          <p:nvPr/>
        </p:nvSpPr>
        <p:spPr>
          <a:xfrm>
            <a:off x="4937760" y="365760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FBEB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3490" y="378333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623560" y="36118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v1 (Sanctum)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Задел на будущее мобильное приложение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Инженерия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 и качество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743200" cy="2697480"/>
          </a:xfrm>
          <a:prstGeom prst="roundRect">
            <a:avLst>
              <a:gd name="adj" fmla="val 4746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365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автотестов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(ветка с GigaChat)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Pulse и бэкапы Postgres на проде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0992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858768" y="1691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566160" y="2039112"/>
            <a:ext cx="8183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66160" y="2039112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PHP 8.4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475988" y="203911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75988" y="2039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Laravel 12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618988" y="2039112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18988" y="203911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Livewire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606540" y="2039112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06540" y="203911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566160" y="2441448"/>
            <a:ext cx="12847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66160" y="244144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16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42332" y="2441448"/>
            <a:ext cx="6629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42332" y="2441448"/>
            <a:ext cx="6629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10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02666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858768" y="30083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3566160" y="3355848"/>
            <a:ext cx="81838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566160" y="3355848"/>
            <a:ext cx="8183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Actions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475988" y="3355848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475988" y="3355848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463540" y="3355848"/>
            <a:ext cx="97383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463540" y="3355848"/>
            <a:ext cx="9738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Contracts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941064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3858768" y="392277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Инфраструктура и CI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3566160" y="4270248"/>
            <a:ext cx="12847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566160" y="427024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Sail локально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942332" y="4270248"/>
            <a:ext cx="1284732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4942332" y="4270248"/>
            <a:ext cx="12847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на VPS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318504" y="4270248"/>
            <a:ext cx="136245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318504" y="4270248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7772400" y="4270248"/>
            <a:ext cx="5852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772400" y="4270248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Pint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3566160" y="4672584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3566160" y="467258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Larastan 6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4709160" y="4672584"/>
            <a:ext cx="585216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709160" y="4672584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2011680"/>
            <a:ext cx="5486400" cy="5486400"/>
          </a:xfrm>
          <a:prstGeom prst="ellipse">
            <a:avLst/>
          </a:prstGeom>
          <a:solidFill>
            <a:srgbClr val="4F46E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2743200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86868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078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8686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Живое демо, 5 минут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entropiq.ru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2313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56032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Лендинг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калькулятор без входа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07080" y="214884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508248" y="2313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508248" y="256032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Дашборд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номинал и реальный баланс, инфляция, цели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65520" y="214884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66688" y="2313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266688" y="256032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Операция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список, одна сумма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324612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365760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сценарии и «Что если»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07080" y="324612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508248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508248" y="365760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Аналитика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C7D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вкладки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65520" y="3246120"/>
            <a:ext cx="2529840" cy="960120"/>
          </a:xfrm>
          <a:prstGeom prst="roundRect">
            <a:avLst>
              <a:gd name="adj" fmla="val 13333"/>
            </a:avLst>
          </a:prstGeom>
          <a:solidFill>
            <a:srgbClr val="312E8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266688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66688" y="3657600"/>
            <a:ext cx="2127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AI-совет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сделано по факту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8862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739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88823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35024" y="173736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Фазы 0–11 и 13 плана разработки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закрыты кодом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627632"/>
            <a:ext cx="38862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773936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340" y="188823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95544" y="1737360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Домен entropiq.ru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на VPS, SSL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2505456"/>
            <a:ext cx="38862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26517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766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35024" y="2615184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DemoSeeder на проде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Алексей залогинен, операции, цели, советы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709160" y="2505456"/>
            <a:ext cx="38862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265176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ECFDF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27660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5544" y="2615184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Живые AI-советы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GigaChat, запасной FakeLlmService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548640" y="3383280"/>
            <a:ext cx="388620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1520" y="3529584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FFFBE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643884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35024" y="3493008"/>
            <a:ext cx="2935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Aero в коде</a:t>
            </a:r>
            <a:endParaRPr lang="en-US" sz="125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доставка OTP пока замокана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 на 22 сентября 2026:  </a:t>
            </a:r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docs/project-status-2026-09-22.md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Финансовая модель, не факт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Экономика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12 000 ₽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664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вложения на старт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домен, VPS, тест рекламы, резерв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≈ 67 ₽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ARPU в месяц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платящего пользователя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3814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8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4564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платящих до безубыточности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базовом сценарии 3-й месяц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1645920"/>
            <a:ext cx="352044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303520" y="1828800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Прибыль за 12 месяцев, тыс. ₽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База: 2 000 регистраций, 132 платящих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49240" y="3218688"/>
            <a:ext cx="2971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2706624"/>
            <a:ext cx="822960" cy="5120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395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32918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Базовый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3218688"/>
            <a:ext cx="822960" cy="69128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394655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−27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2926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Пессимистичный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-30" kern="0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Статус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9611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Честный статус на дату защиты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ECFD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Готово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31343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368296"/>
            <a:ext cx="118872" cy="1188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52144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258775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42616"/>
            <a:ext cx="118872" cy="1188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52144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Домен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286207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916936"/>
            <a:ext cx="118872" cy="1188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52144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13639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191256"/>
            <a:ext cx="118872" cy="1188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52144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822960" y="341071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3465576"/>
            <a:ext cx="118872" cy="11887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52144" y="3383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Демо-данные Алексея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22960" y="368503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739896"/>
            <a:ext cx="118872" cy="11887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152144" y="36576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GigaChat</a:t>
            </a:r>
            <a:endParaRPr lang="en-US" sz="1250" dirty="0"/>
          </a:p>
        </p:txBody>
      </p:sp>
      <p:sp>
        <p:nvSpPr>
          <p:cNvPr id="26" name="Shape 18"/>
          <p:cNvSpPr/>
          <p:nvPr/>
        </p:nvSpPr>
        <p:spPr>
          <a:xfrm>
            <a:off x="822960" y="395935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014216"/>
            <a:ext cx="118872" cy="11887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152144" y="39319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Пакет к защите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822960" y="4233672"/>
            <a:ext cx="219456" cy="219456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" y="4288536"/>
            <a:ext cx="118872" cy="11887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152144" y="42062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Репетиция 22.09.2026</a:t>
            </a:r>
            <a:endParaRPr lang="en-US" sz="1250" dirty="0"/>
          </a:p>
        </p:txBody>
      </p:sp>
      <p:sp>
        <p:nvSpPr>
          <p:cNvPr id="32" name="Shape 22"/>
          <p:cNvSpPr/>
          <p:nvPr/>
        </p:nvSpPr>
        <p:spPr>
          <a:xfrm>
            <a:off x="4709160" y="1691640"/>
            <a:ext cx="3886200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111827">
                <a:alpha val="6000"/>
              </a:srgbClr>
            </a:outerShdw>
          </a:effectLst>
        </p:spPr>
      </p:sp>
      <p:sp>
        <p:nvSpPr>
          <p:cNvPr id="33" name="Text 23"/>
          <p:cNvSpPr txBox="1"/>
          <p:nvPr/>
        </p:nvSpPr>
        <p:spPr>
          <a:xfrm>
            <a:off x="4983480" y="1874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готово к коммерции</a:t>
            </a:r>
            <a:endParaRPr lang="en-US" sz="1800" dirty="0"/>
          </a:p>
        </p:txBody>
      </p:sp>
      <p:sp>
        <p:nvSpPr>
          <p:cNvPr id="34" name="Shape 24"/>
          <p:cNvSpPr/>
          <p:nvPr/>
        </p:nvSpPr>
        <p:spPr>
          <a:xfrm>
            <a:off x="5001768" y="2441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25"/>
          <p:cNvSpPr txBox="1"/>
          <p:nvPr/>
        </p:nvSpPr>
        <p:spPr>
          <a:xfrm>
            <a:off x="5212080" y="233172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ИП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5001768" y="284378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5212080" y="273405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ЮKassa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в приложении заглушка оплаты</a:t>
            </a:r>
            <a:endParaRPr lang="en-US" sz="1200" dirty="0"/>
          </a:p>
        </p:txBody>
      </p:sp>
      <p:sp>
        <p:nvSpPr>
          <p:cNvPr id="38" name="Shape 28"/>
          <p:cNvSpPr/>
          <p:nvPr/>
        </p:nvSpPr>
        <p:spPr>
          <a:xfrm>
            <a:off x="5001768" y="32461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5212080" y="313639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Боевая SMS на любой номер</a:t>
            </a:r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ждём имя отправителя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5001768" y="3648456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1"/>
          <p:cNvSpPr txBox="1"/>
          <p:nvPr/>
        </p:nvSpPr>
        <p:spPr>
          <a:xfrm>
            <a:off x="5212080" y="3538728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Альфа-тест 5–10 внешних людей</a:t>
            </a:r>
            <a:endParaRPr lang="en-US" sz="1200" dirty="0"/>
          </a:p>
        </p:txBody>
      </p:sp>
      <p:sp>
        <p:nvSpPr>
          <p:cNvPr id="42" name="Shape 32"/>
          <p:cNvSpPr/>
          <p:nvPr/>
        </p:nvSpPr>
        <p:spPr>
          <a:xfrm>
            <a:off x="5001768" y="40507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5212080" y="3941064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Маркетинг и набор пользователей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-2011680"/>
            <a:ext cx="5486400" cy="5486400"/>
          </a:xfrm>
          <a:prstGeom prst="ellipse">
            <a:avLst/>
          </a:prstGeom>
          <a:solidFill>
            <a:srgbClr val="4F46E5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2743200"/>
            <a:ext cx="5029200" cy="5029200"/>
          </a:xfrm>
          <a:prstGeom prst="ellipse">
            <a:avLst/>
          </a:prstGeom>
          <a:solidFill>
            <a:srgbClr val="8B5CF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0" y="2926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Планы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886200" cy="1691640"/>
          </a:xfrm>
          <a:prstGeom prst="roundRect">
            <a:avLst>
              <a:gd name="adj" fmla="val 7568"/>
            </a:avLst>
          </a:prstGeom>
          <a:solidFill>
            <a:srgbClr val="312E8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819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88720" y="1563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Ближайшее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19842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Альфа 5–10 человек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ИП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ЮKassa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Боевой SMS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709160" y="1325880"/>
            <a:ext cx="3886200" cy="1691640"/>
          </a:xfrm>
          <a:prstGeom prst="roundRect">
            <a:avLst>
              <a:gd name="adj" fmla="val 7568"/>
            </a:avLst>
          </a:prstGeom>
          <a:solidFill>
            <a:srgbClr val="312E8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819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1563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запуска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1984248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Реферальная программа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Крепче AI</a:t>
            </a:r>
            <a:endParaRPr lang="en-US" sz="12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или мобильное приложение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383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Спасибо. Вопросы.</a:t>
            </a:r>
            <a:endParaRPr lang="en-US" sz="4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24528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9536" y="41879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entropiq.ru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Entropiq</dc:title>
  <dc:subject>PptxGenJS Presentation</dc:subject>
  <dc:creator>PptxGenJS</dc:creator>
  <cp:lastModifiedBy>PptxGenJS</cp:lastModifiedBy>
  <cp:revision>1</cp:revision>
  <dcterms:created xsi:type="dcterms:W3CDTF">2026-09-22T18:35:05Z</dcterms:created>
  <dcterms:modified xsi:type="dcterms:W3CDTF">2026-09-22T18:35:05Z</dcterms:modified>
</cp:coreProperties>
</file>